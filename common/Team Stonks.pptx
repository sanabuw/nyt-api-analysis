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embeddedFontLst>
    <p:embeddedFont>
      <p:font typeface="Lato" panose="020F0502020204030203" pitchFamily="34" charset="0"/>
      <p:regular r:id="rId28"/>
      <p:bold r:id="rId29"/>
      <p:italic r:id="rId30"/>
      <p:boldItalic r:id="rId31"/>
    </p:embeddedFont>
    <p:embeddedFont>
      <p:font typeface="Montserrat" panose="00000500000000000000" pitchFamily="2" charset="0"/>
      <p:regular r:id="rId32"/>
      <p:bold r:id="rId33"/>
      <p:italic r:id="rId34"/>
      <p:boldItalic r:id="rId35"/>
    </p:embeddedFont>
    <p:embeddedFont>
      <p:font typeface="Trebuchet MS" panose="020B060302020202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00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c093812fa4_3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c093812fa4_3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c093812fa4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c093812fa4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c093812fa4_5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c093812fa4_5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c093812fa4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c093812fa4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c093812fa4_5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c093812fa4_5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c093812fa4_5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c093812fa4_5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c093812fa4_3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c093812fa4_3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c093812fa4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c093812fa4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c093812fa4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c093812fa4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c093812fa4_5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c093812fa4_5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c093812fa4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c093812fa4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c093812fa4_3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c093812fa4_3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c093812fa4_3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c093812fa4_3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c093812fa4_3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c093812fa4_3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c093812fa4_4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c093812fa4_4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c093812fa4_3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c093812fa4_3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c093812fa4_4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c093812fa4_4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c093812fa4_3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c093812fa4_3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c093812fa4_3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c093812fa4_3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c093812fa4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c093812fa4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093812fa4_4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093812fa4_4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c093812fa4_4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c093812fa4_4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c093812fa4_4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c093812fa4_4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c093812fa4_4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c093812fa4_4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rgbClr val="CCCCC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234975" y="413875"/>
            <a:ext cx="5758200" cy="18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On Deciding if We</a:t>
            </a:r>
            <a:r>
              <a:rPr lang="en">
                <a:solidFill>
                  <a:srgbClr val="E84C2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Like the Stock, Too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3923050" y="2410425"/>
            <a:ext cx="4952400" cy="22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56" b="1">
                <a:solidFill>
                  <a:srgbClr val="000000"/>
                </a:solidFill>
              </a:rPr>
              <a:t>Team</a:t>
            </a:r>
            <a:r>
              <a:rPr lang="en" sz="4056" b="1">
                <a:solidFill>
                  <a:srgbClr val="FF0000"/>
                </a:solidFill>
              </a:rPr>
              <a:t> Stonks</a:t>
            </a:r>
            <a:endParaRPr sz="4056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Jennifer Randle</a:t>
            </a:r>
            <a:endParaRPr sz="14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Jeriel Minguillan</a:t>
            </a:r>
            <a:endParaRPr sz="14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Paula Lopes</a:t>
            </a:r>
            <a:endParaRPr sz="14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Sanabu Washizuka</a:t>
            </a:r>
            <a:endParaRPr sz="14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UCSD Extension - The Data Science and Visualization Boot Camp</a:t>
            </a:r>
            <a:endParaRPr sz="18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ETL Project</a:t>
            </a:r>
            <a:endParaRPr sz="18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1825" y="1164650"/>
            <a:ext cx="1822024" cy="102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4500" y="974525"/>
            <a:ext cx="393475" cy="42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5975" y="1041625"/>
            <a:ext cx="393476" cy="42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800" y="2918225"/>
            <a:ext cx="3082567" cy="16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Introduction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145" name="Google Shape;145;p14"/>
          <p:cNvSpPr txBox="1">
            <a:spLocks noGrp="1"/>
          </p:cNvSpPr>
          <p:nvPr>
            <p:ph type="body" idx="1"/>
          </p:nvPr>
        </p:nvSpPr>
        <p:spPr>
          <a:xfrm>
            <a:off x="1297500" y="1263950"/>
            <a:ext cx="7038900" cy="36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-Extract, Transform, Load</a:t>
            </a:r>
            <a:endParaRPr sz="1275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-Ny Times API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-Marketing/Business aspect of ETL using NY Times API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-Game</a:t>
            </a:r>
            <a:r>
              <a:rPr lang="en" sz="1800">
                <a:solidFill>
                  <a:srgbClr val="FF0000"/>
                </a:solidFill>
              </a:rPr>
              <a:t>stop</a:t>
            </a:r>
            <a:endParaRPr sz="18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-ETL processes in a production environment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	</a:t>
            </a:r>
            <a:r>
              <a:rPr lang="en" sz="1275">
                <a:solidFill>
                  <a:srgbClr val="000000"/>
                </a:solidFill>
              </a:rPr>
              <a:t>-raw responses</a:t>
            </a:r>
            <a:endParaRPr sz="1275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75">
                <a:solidFill>
                  <a:srgbClr val="000000"/>
                </a:solidFill>
              </a:rPr>
              <a:t>	-analysis ready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-Compensating over time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	-Data Integrity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-Do we like the stock?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>
            <a:spLocks noGrp="1"/>
          </p:cNvSpPr>
          <p:nvPr>
            <p:ph type="title"/>
          </p:nvPr>
        </p:nvSpPr>
        <p:spPr>
          <a:xfrm>
            <a:off x="1297500" y="205225"/>
            <a:ext cx="7038900" cy="91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New York Times API’s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151" name="Google Shape;15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959475"/>
            <a:ext cx="6921194" cy="3780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0400" y="411650"/>
            <a:ext cx="2228849" cy="190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9001" y="411650"/>
            <a:ext cx="2145223" cy="190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0401" y="2761150"/>
            <a:ext cx="2228849" cy="2046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7187" y="2773750"/>
            <a:ext cx="2228851" cy="2020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Most Popular API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165" name="Google Shape;16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6362" y="878824"/>
            <a:ext cx="6821172" cy="4264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275" y="254575"/>
            <a:ext cx="7933273" cy="4634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225" y="66798"/>
            <a:ext cx="6025475" cy="353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8850" y="3048125"/>
            <a:ext cx="4977826" cy="18790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19"/>
          <p:cNvCxnSpPr/>
          <p:nvPr/>
        </p:nvCxnSpPr>
        <p:spPr>
          <a:xfrm>
            <a:off x="4522900" y="3930500"/>
            <a:ext cx="1570200" cy="18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19"/>
          <p:cNvCxnSpPr/>
          <p:nvPr/>
        </p:nvCxnSpPr>
        <p:spPr>
          <a:xfrm rot="10800000" flipH="1">
            <a:off x="940300" y="2209825"/>
            <a:ext cx="5228100" cy="9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19"/>
          <p:cNvCxnSpPr/>
          <p:nvPr/>
        </p:nvCxnSpPr>
        <p:spPr>
          <a:xfrm rot="10800000" flipH="1">
            <a:off x="940300" y="2709613"/>
            <a:ext cx="5228100" cy="9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Top Stories API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185" name="Google Shape;185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000" y="899238"/>
            <a:ext cx="7995898" cy="424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Top Stories API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3" name="Google Shape;19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250" y="937075"/>
            <a:ext cx="7853501" cy="4172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Top Stories API</a:t>
            </a:r>
            <a:endParaRPr/>
          </a:p>
        </p:txBody>
      </p:sp>
      <p:sp>
        <p:nvSpPr>
          <p:cNvPr id="199" name="Google Shape;199;p2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0" name="Google Shape;2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800" y="927261"/>
            <a:ext cx="7890398" cy="4191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Top Stories API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206" name="Google Shape;206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7" name="Google Shape;2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813" y="941613"/>
            <a:ext cx="7836374" cy="416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Top Stories API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3" name="Google Shape;213;p2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4" name="Google Shape;21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975" y="919925"/>
            <a:ext cx="7918051" cy="420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6125" y="641875"/>
            <a:ext cx="5831751" cy="444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5"/>
          <p:cNvSpPr txBox="1"/>
          <p:nvPr/>
        </p:nvSpPr>
        <p:spPr>
          <a:xfrm>
            <a:off x="1421975" y="87775"/>
            <a:ext cx="261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Montserrat"/>
                <a:ea typeface="Montserrat"/>
                <a:cs typeface="Montserrat"/>
                <a:sym typeface="Montserrat"/>
              </a:rPr>
              <a:t>Archive API</a:t>
            </a:r>
            <a:endParaRPr sz="2400"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>
            <a:spLocks noGrp="1"/>
          </p:cNvSpPr>
          <p:nvPr>
            <p:ph type="title"/>
          </p:nvPr>
        </p:nvSpPr>
        <p:spPr>
          <a:xfrm>
            <a:off x="1252750" y="1197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Archive API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226" name="Google Shape;22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725" y="652025"/>
            <a:ext cx="6628951" cy="438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1100" y="476625"/>
            <a:ext cx="4679075" cy="4691724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7"/>
          <p:cNvSpPr txBox="1"/>
          <p:nvPr/>
        </p:nvSpPr>
        <p:spPr>
          <a:xfrm>
            <a:off x="1047050" y="0"/>
            <a:ext cx="261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Montserrat"/>
                <a:ea typeface="Montserrat"/>
                <a:cs typeface="Montserrat"/>
                <a:sym typeface="Montserrat"/>
              </a:rPr>
              <a:t>Archive API</a:t>
            </a:r>
            <a:endParaRPr sz="2400"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225" y="915825"/>
            <a:ext cx="4679174" cy="290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4975" y="2169775"/>
            <a:ext cx="4494749" cy="280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8"/>
          <p:cNvSpPr txBox="1"/>
          <p:nvPr/>
        </p:nvSpPr>
        <p:spPr>
          <a:xfrm>
            <a:off x="2154300" y="0"/>
            <a:ext cx="4835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Montserrat"/>
                <a:ea typeface="Montserrat"/>
                <a:cs typeface="Montserrat"/>
                <a:sym typeface="Montserrat"/>
              </a:rPr>
              <a:t>Article Search API -  ETL 1</a:t>
            </a:r>
            <a:endParaRPr sz="2400"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825" y="486850"/>
            <a:ext cx="3847900" cy="245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6275" y="2823000"/>
            <a:ext cx="7506826" cy="17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9"/>
          <p:cNvSpPr txBox="1"/>
          <p:nvPr/>
        </p:nvSpPr>
        <p:spPr>
          <a:xfrm>
            <a:off x="2154300" y="0"/>
            <a:ext cx="4835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Montserrat"/>
                <a:ea typeface="Montserrat"/>
                <a:cs typeface="Montserrat"/>
                <a:sym typeface="Montserrat"/>
              </a:rPr>
              <a:t>Article Search API -  ETL 2</a:t>
            </a:r>
            <a:endParaRPr sz="2400"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8350" y="95463"/>
            <a:ext cx="3987300" cy="4952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Other Topics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9" name="Google Shape;259;p3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ETL in a broader operations environment</a:t>
            </a: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Operations over time</a:t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ETL in the Scope of a Broader Operations Environment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5" name="Google Shape;265;p32"/>
          <p:cNvSpPr/>
          <p:nvPr/>
        </p:nvSpPr>
        <p:spPr>
          <a:xfrm>
            <a:off x="1115950" y="907725"/>
            <a:ext cx="1653000" cy="984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 Times API</a:t>
            </a:r>
            <a:endParaRPr/>
          </a:p>
        </p:txBody>
      </p:sp>
      <p:sp>
        <p:nvSpPr>
          <p:cNvPr id="266" name="Google Shape;266;p32"/>
          <p:cNvSpPr/>
          <p:nvPr/>
        </p:nvSpPr>
        <p:spPr>
          <a:xfrm>
            <a:off x="5939925" y="1165700"/>
            <a:ext cx="1653000" cy="140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MongoDB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(stores raw responses)</a:t>
            </a:r>
            <a:endParaRPr/>
          </a:p>
        </p:txBody>
      </p:sp>
      <p:sp>
        <p:nvSpPr>
          <p:cNvPr id="267" name="Google Shape;267;p32"/>
          <p:cNvSpPr/>
          <p:nvPr/>
        </p:nvSpPr>
        <p:spPr>
          <a:xfrm>
            <a:off x="648850" y="3809900"/>
            <a:ext cx="2120100" cy="984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PostgreSQL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(storing analysis ready tables)</a:t>
            </a:r>
            <a:endParaRPr/>
          </a:p>
        </p:txBody>
      </p:sp>
      <p:sp>
        <p:nvSpPr>
          <p:cNvPr id="268" name="Google Shape;268;p32"/>
          <p:cNvSpPr/>
          <p:nvPr/>
        </p:nvSpPr>
        <p:spPr>
          <a:xfrm>
            <a:off x="2876975" y="1113075"/>
            <a:ext cx="2860800" cy="7785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looping for search terms</a:t>
            </a:r>
            <a:br>
              <a:rPr lang="en"/>
            </a:br>
            <a:r>
              <a:rPr lang="en"/>
              <a:t>and retrieving JSON responses</a:t>
            </a:r>
            <a:endParaRPr/>
          </a:p>
        </p:txBody>
      </p:sp>
      <p:sp>
        <p:nvSpPr>
          <p:cNvPr id="269" name="Google Shape;269;p32"/>
          <p:cNvSpPr/>
          <p:nvPr/>
        </p:nvSpPr>
        <p:spPr>
          <a:xfrm rot="-1736040">
            <a:off x="2688213" y="2167419"/>
            <a:ext cx="2976425" cy="1564165"/>
          </a:xfrm>
          <a:prstGeom prst="leftArrow">
            <a:avLst>
              <a:gd name="adj1" fmla="val 50000"/>
              <a:gd name="adj2" fmla="val 5215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Query entire collection, targeting specific values within the MongoDB objects and append to SQL table</a:t>
            </a:r>
            <a:endParaRPr sz="1300"/>
          </a:p>
        </p:txBody>
      </p:sp>
      <p:sp>
        <p:nvSpPr>
          <p:cNvPr id="270" name="Google Shape;270;p32"/>
          <p:cNvSpPr/>
          <p:nvPr/>
        </p:nvSpPr>
        <p:spPr>
          <a:xfrm>
            <a:off x="5146875" y="2952425"/>
            <a:ext cx="2350500" cy="20544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Analysis!</a:t>
            </a:r>
            <a:endParaRPr/>
          </a:p>
        </p:txBody>
      </p:sp>
      <p:sp>
        <p:nvSpPr>
          <p:cNvPr id="271" name="Google Shape;271;p32"/>
          <p:cNvSpPr/>
          <p:nvPr/>
        </p:nvSpPr>
        <p:spPr>
          <a:xfrm>
            <a:off x="2954275" y="3750100"/>
            <a:ext cx="2297700" cy="1336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Processing analysis through counting, grouping, graphing etc.</a:t>
            </a:r>
            <a:endParaRPr sz="1200"/>
          </a:p>
        </p:txBody>
      </p:sp>
      <p:sp>
        <p:nvSpPr>
          <p:cNvPr id="272" name="Google Shape;272;p32"/>
          <p:cNvSpPr/>
          <p:nvPr/>
        </p:nvSpPr>
        <p:spPr>
          <a:xfrm>
            <a:off x="3593275" y="1022375"/>
            <a:ext cx="879000" cy="2103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ETL 1</a:t>
            </a:r>
            <a:endParaRPr/>
          </a:p>
        </p:txBody>
      </p:sp>
      <p:sp>
        <p:nvSpPr>
          <p:cNvPr id="273" name="Google Shape;273;p32"/>
          <p:cNvSpPr/>
          <p:nvPr/>
        </p:nvSpPr>
        <p:spPr>
          <a:xfrm rot="-1677862">
            <a:off x="3478171" y="2225733"/>
            <a:ext cx="879037" cy="210565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ETL 2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6025" y="1129825"/>
            <a:ext cx="4755624" cy="356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6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Archived Raw Response in MongoDB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637" y="1336525"/>
            <a:ext cx="7750726" cy="285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6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Analysis-Ready PostgreSQL Table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Operations Over Time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1" name="Google Shape;291;p3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Ensure new data is added at intelligent intervals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Decisions on when to make new requests</a:t>
            </a:r>
            <a:endParaRPr sz="1500">
              <a:solidFill>
                <a:srgbClr val="000000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n" sz="1500">
                <a:solidFill>
                  <a:srgbClr val="000000"/>
                </a:solidFill>
              </a:rPr>
              <a:t>e.g. Article Search API can set query dates. Ensure query dates are set on new weeks between calls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Updating MongoDB with update / appending to PostgreSQL with SQL Alchemy session add/commit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Small data sets can drop the data table and pull data for updated analysis</a:t>
            </a: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4150" y="651450"/>
            <a:ext cx="5344025" cy="423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6"/>
          <p:cNvSpPr txBox="1">
            <a:spLocks noGrp="1"/>
          </p:cNvSpPr>
          <p:nvPr>
            <p:ph type="body" idx="1"/>
          </p:nvPr>
        </p:nvSpPr>
        <p:spPr>
          <a:xfrm>
            <a:off x="1507350" y="96650"/>
            <a:ext cx="7038900" cy="14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000000"/>
                </a:solidFill>
              </a:rPr>
              <a:t>So… how </a:t>
            </a:r>
            <a:r>
              <a:rPr lang="en" sz="2300" i="1">
                <a:solidFill>
                  <a:srgbClr val="000000"/>
                </a:solidFill>
              </a:rPr>
              <a:t>is </a:t>
            </a:r>
            <a:r>
              <a:rPr lang="en" sz="2300">
                <a:solidFill>
                  <a:srgbClr val="000000"/>
                </a:solidFill>
              </a:rPr>
              <a:t> Game</a:t>
            </a:r>
            <a:r>
              <a:rPr lang="en" sz="2300">
                <a:solidFill>
                  <a:srgbClr val="FF0000"/>
                </a:solidFill>
              </a:rPr>
              <a:t>stop</a:t>
            </a:r>
            <a:r>
              <a:rPr lang="en" sz="2300">
                <a:solidFill>
                  <a:srgbClr val="000000"/>
                </a:solidFill>
              </a:rPr>
              <a:t> hype doing right now?</a:t>
            </a:r>
            <a:endParaRPr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1475" y="825900"/>
            <a:ext cx="4681300" cy="383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3474" y="2149500"/>
            <a:ext cx="1010100" cy="8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6275" y="1111150"/>
            <a:ext cx="1329550" cy="7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7"/>
          <p:cNvSpPr txBox="1">
            <a:spLocks noGrp="1"/>
          </p:cNvSpPr>
          <p:nvPr>
            <p:ph type="body" idx="1"/>
          </p:nvPr>
        </p:nvSpPr>
        <p:spPr>
          <a:xfrm>
            <a:off x="3132375" y="194250"/>
            <a:ext cx="7038900" cy="14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000000"/>
                </a:solidFill>
              </a:rPr>
              <a:t>We like the </a:t>
            </a:r>
            <a:r>
              <a:rPr lang="en" sz="2300">
                <a:solidFill>
                  <a:srgbClr val="FF0000"/>
                </a:solidFill>
              </a:rPr>
              <a:t>stock</a:t>
            </a:r>
            <a:r>
              <a:rPr lang="en" sz="2300">
                <a:solidFill>
                  <a:srgbClr val="000000"/>
                </a:solidFill>
              </a:rPr>
              <a:t>.</a:t>
            </a:r>
            <a:endParaRPr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PresentationFormat>On-screen Show (16:9)</PresentationFormat>
  <Paragraphs>58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Trebuchet MS</vt:lpstr>
      <vt:lpstr>Arial</vt:lpstr>
      <vt:lpstr>Montserrat</vt:lpstr>
      <vt:lpstr>Lato</vt:lpstr>
      <vt:lpstr>Focus</vt:lpstr>
      <vt:lpstr>On Deciding if We Like the Stock, Too</vt:lpstr>
      <vt:lpstr>Introduction</vt:lpstr>
      <vt:lpstr>New York Times API’s</vt:lpstr>
      <vt:lpstr>PowerPoint Presentation</vt:lpstr>
      <vt:lpstr>Most Popular API</vt:lpstr>
      <vt:lpstr>PowerPoint Presentation</vt:lpstr>
      <vt:lpstr>PowerPoint Presentation</vt:lpstr>
      <vt:lpstr>Top Stories API</vt:lpstr>
      <vt:lpstr>Top Stories API </vt:lpstr>
      <vt:lpstr>Top Stories API</vt:lpstr>
      <vt:lpstr>Top Stories API</vt:lpstr>
      <vt:lpstr>Top Stories API</vt:lpstr>
      <vt:lpstr>PowerPoint Presentation</vt:lpstr>
      <vt:lpstr>Archive API</vt:lpstr>
      <vt:lpstr>PowerPoint Presentation</vt:lpstr>
      <vt:lpstr>PowerPoint Presentation</vt:lpstr>
      <vt:lpstr>PowerPoint Presentation</vt:lpstr>
      <vt:lpstr>PowerPoint Presentation</vt:lpstr>
      <vt:lpstr>Other Topics</vt:lpstr>
      <vt:lpstr>ETL in the Scope of a Broader Operations Environment</vt:lpstr>
      <vt:lpstr>Archived Raw Response in MongoDB</vt:lpstr>
      <vt:lpstr>Analysis-Ready PostgreSQL Table</vt:lpstr>
      <vt:lpstr>Operations Over Time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Sanabu W</cp:lastModifiedBy>
  <cp:revision>1</cp:revision>
  <dcterms:modified xsi:type="dcterms:W3CDTF">2025-05-02T01:19:07Z</dcterms:modified>
</cp:coreProperties>
</file>